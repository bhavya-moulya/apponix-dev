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534" y="548640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Serverless URL Shortener using 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7" y="2322877"/>
            <a:ext cx="10993546" cy="468233"/>
          </a:xfrm>
        </p:spPr>
        <p:txBody>
          <a:bodyPr>
            <a:normAutofit/>
          </a:bodyPr>
          <a:lstStyle/>
          <a:p>
            <a:r>
              <a:rPr lang="en-US" sz="1800" dirty="0"/>
              <a:t>Aditya </a:t>
            </a:r>
            <a:r>
              <a:rPr lang="en-US" sz="1800" dirty="0" err="1"/>
              <a:t>patil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534" y="3090334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F03B3-1BDD-9FC5-2EA8-045E66DBB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Long URLs are difficult to share and remember.</a:t>
            </a:r>
            <a:br>
              <a:rPr lang="en-US" sz="2000" dirty="0"/>
            </a:br>
            <a:r>
              <a:rPr lang="en-US" sz="2000" dirty="0"/>
              <a:t>A system is needed to convert long URLs into short, easy-to-share links.</a:t>
            </a:r>
          </a:p>
          <a:p>
            <a:r>
              <a:rPr lang="en-US" sz="2000" dirty="0"/>
              <a:t>Challenges:</a:t>
            </a:r>
          </a:p>
          <a:p>
            <a:pPr lvl="1"/>
            <a:r>
              <a:rPr lang="en-US" sz="1800" dirty="0"/>
              <a:t>Managing URL redirection</a:t>
            </a:r>
          </a:p>
          <a:p>
            <a:pPr lvl="1"/>
            <a:r>
              <a:rPr lang="en-US" sz="1800" dirty="0"/>
              <a:t>Tracking link usage</a:t>
            </a:r>
          </a:p>
          <a:p>
            <a:pPr lvl="1"/>
            <a:r>
              <a:rPr lang="en-US" sz="1800" dirty="0"/>
              <a:t>Handling link expiration</a:t>
            </a:r>
          </a:p>
          <a:p>
            <a:pPr lvl="1"/>
            <a:r>
              <a:rPr lang="en-US" sz="1800" dirty="0"/>
              <a:t>Ensuring scalability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D86E-9D33-89E2-3EDF-A6BB917C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C872-85B6-6628-2AFC-1E57F567D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The objective of this project is to build a </a:t>
            </a:r>
            <a:r>
              <a:rPr lang="en-US" sz="2200" b="1" dirty="0"/>
              <a:t>serverless URL shortening system</a:t>
            </a:r>
            <a:r>
              <a:rPr lang="en-US" sz="2200" dirty="0"/>
              <a:t> using AWS cloud services.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Goals: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Generate short URLs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Redirect users to original URLs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Track number of clicks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Support link expiration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Provide analytics API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4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245C-D4CD-6D4D-0FC3-A682C8BB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Services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3371-6F9D-F43E-010B-70FA8F302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This project uses the following AWS services:</a:t>
            </a:r>
          </a:p>
          <a:p>
            <a:pPr marL="0" indent="0">
              <a:buNone/>
            </a:pPr>
            <a:r>
              <a:rPr lang="en-IN" sz="2000" dirty="0"/>
              <a:t>	• Amazon API Gateway – manages REST APIs</a:t>
            </a:r>
            <a:br>
              <a:rPr lang="en-IN" sz="2000" dirty="0"/>
            </a:br>
            <a:r>
              <a:rPr lang="en-IN" sz="2000" dirty="0"/>
              <a:t>	• AWS Lambda – runs backend logic without servers</a:t>
            </a:r>
            <a:br>
              <a:rPr lang="en-IN" sz="2000" dirty="0"/>
            </a:br>
            <a:r>
              <a:rPr lang="en-IN" sz="2000" dirty="0"/>
              <a:t>	• Amazon DynamoDB – stores URL mappings</a:t>
            </a:r>
          </a:p>
          <a:p>
            <a:r>
              <a:rPr lang="en-IN" sz="2000" dirty="0"/>
              <a:t>Programming Language:</a:t>
            </a:r>
          </a:p>
          <a:p>
            <a:pPr marL="0" indent="0">
              <a:buNone/>
            </a:pPr>
            <a:r>
              <a:rPr lang="en-IN" sz="2000" dirty="0"/>
              <a:t>	Python (Boto3)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53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6D25F-153B-8157-435F-F0A74C91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6132EEC-B3B0-9C6F-BF15-EEA430818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329"/>
          <a:stretch>
            <a:fillRect/>
          </a:stretch>
        </p:blipFill>
        <p:spPr>
          <a:xfrm>
            <a:off x="1267539" y="1890876"/>
            <a:ext cx="9375503" cy="360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1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6AE7-EDB5-B5CF-D108-6AE118B2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DynamoDB Database Design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9390274-9B29-D30C-4584-704ECBD22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323302"/>
              </p:ext>
            </p:extLst>
          </p:nvPr>
        </p:nvGraphicFramePr>
        <p:xfrm>
          <a:off x="516850" y="2772565"/>
          <a:ext cx="1102995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3573724673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100658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81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ShortCode</a:t>
                      </a:r>
                      <a:r>
                        <a:rPr lang="en-IN" sz="2000" dirty="0"/>
                        <a:t> (Primary 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Unique short link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038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OriginalURL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Original long URL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15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ClickCount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Number of clicks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155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CreatedDate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Link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198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ExpiryDate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Link expiration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994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76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020C-3F6A-3986-E50F-63202471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CE17-E747-8C93-CE9A-5CBD32C1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200" dirty="0"/>
              <a:t>Three Lambda functions were implemented:</a:t>
            </a:r>
          </a:p>
          <a:p>
            <a:pPr marL="0" indent="0">
              <a:buNone/>
            </a:pPr>
            <a:r>
              <a:rPr lang="en-IN" sz="2200" b="1" dirty="0"/>
              <a:t>1️⃣ </a:t>
            </a:r>
            <a:r>
              <a:rPr lang="en-IN" sz="2200" b="1" dirty="0" err="1"/>
              <a:t>createShortURL</a:t>
            </a:r>
            <a:endParaRPr lang="en-IN" sz="2200" dirty="0"/>
          </a:p>
          <a:p>
            <a:pPr lvl="1"/>
            <a:r>
              <a:rPr lang="en-IN" sz="1900" dirty="0"/>
              <a:t>Generates a unique short code</a:t>
            </a:r>
          </a:p>
          <a:p>
            <a:pPr lvl="1"/>
            <a:r>
              <a:rPr lang="en-IN" sz="1900" dirty="0"/>
              <a:t>Stores mapping in DynamoDB</a:t>
            </a:r>
          </a:p>
          <a:p>
            <a:pPr marL="0" indent="0">
              <a:buNone/>
            </a:pPr>
            <a:r>
              <a:rPr lang="en-IN" sz="2200" b="1" dirty="0"/>
              <a:t>2️⃣ </a:t>
            </a:r>
            <a:r>
              <a:rPr lang="en-IN" sz="2200" b="1" dirty="0" err="1"/>
              <a:t>redirectURL</a:t>
            </a:r>
            <a:endParaRPr lang="en-IN" sz="2200" dirty="0"/>
          </a:p>
          <a:p>
            <a:pPr lvl="1"/>
            <a:r>
              <a:rPr lang="en-IN" sz="1900" dirty="0"/>
              <a:t>Retrieves original URL</a:t>
            </a:r>
          </a:p>
          <a:p>
            <a:pPr lvl="1"/>
            <a:r>
              <a:rPr lang="en-IN" sz="1900" dirty="0"/>
              <a:t>Increments click counter</a:t>
            </a:r>
          </a:p>
          <a:p>
            <a:pPr lvl="1"/>
            <a:r>
              <a:rPr lang="en-IN" sz="1900" dirty="0"/>
              <a:t>Redirects user</a:t>
            </a:r>
          </a:p>
          <a:p>
            <a:pPr marL="0" indent="0">
              <a:buNone/>
            </a:pPr>
            <a:r>
              <a:rPr lang="en-IN" sz="2200" b="1" dirty="0"/>
              <a:t>3️⃣ </a:t>
            </a:r>
            <a:r>
              <a:rPr lang="en-IN" sz="2200" b="1" dirty="0" err="1"/>
              <a:t>getAnalytics</a:t>
            </a:r>
            <a:endParaRPr lang="en-IN" sz="2200" dirty="0"/>
          </a:p>
          <a:p>
            <a:pPr lvl="1"/>
            <a:r>
              <a:rPr lang="en-IN" sz="1900" dirty="0"/>
              <a:t>Returns click statistics for a 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46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223E-93D3-4392-A0A1-4EDF19F3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55268"/>
            <a:ext cx="11029616" cy="1188720"/>
          </a:xfrm>
        </p:spPr>
        <p:txBody>
          <a:bodyPr/>
          <a:lstStyle/>
          <a:p>
            <a:r>
              <a:rPr lang="en-IN" dirty="0"/>
              <a:t>API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C084-A6E7-E34A-C7A0-7E8FAB88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41044"/>
            <a:ext cx="11029615" cy="43616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The system exposes the following HTTP APIs:</a:t>
            </a:r>
          </a:p>
          <a:p>
            <a:r>
              <a:rPr lang="en-US" sz="2000" b="1" dirty="0"/>
              <a:t>POST /shorten</a:t>
            </a:r>
            <a:endParaRPr lang="en-US" sz="2000" dirty="0"/>
          </a:p>
          <a:p>
            <a:pPr lvl="1"/>
            <a:r>
              <a:rPr lang="en-US" sz="1800" dirty="0"/>
              <a:t>Creates a short URL</a:t>
            </a:r>
          </a:p>
          <a:p>
            <a:pPr lvl="1"/>
            <a:r>
              <a:rPr lang="en-US" sz="1800" dirty="0"/>
              <a:t>Example request:</a:t>
            </a:r>
          </a:p>
          <a:p>
            <a:pPr marL="0" indent="0">
              <a:buNone/>
            </a:pPr>
            <a:r>
              <a:rPr lang="en-US" sz="2000" dirty="0"/>
              <a:t>	{</a:t>
            </a:r>
            <a:br>
              <a:rPr lang="en-US" sz="2000" dirty="0"/>
            </a:br>
            <a:r>
              <a:rPr lang="en-US" sz="2000" dirty="0"/>
              <a:t>		"</a:t>
            </a:r>
            <a:r>
              <a:rPr lang="en-US" sz="2000" dirty="0" err="1"/>
              <a:t>url</a:t>
            </a:r>
            <a:r>
              <a:rPr lang="en-US" sz="2000" dirty="0"/>
              <a:t>": "https://google.com"</a:t>
            </a:r>
            <a:br>
              <a:rPr lang="en-US" sz="2000" dirty="0"/>
            </a:br>
            <a:r>
              <a:rPr lang="en-US" sz="2000" dirty="0"/>
              <a:t>	}</a:t>
            </a:r>
          </a:p>
          <a:p>
            <a:r>
              <a:rPr lang="en-US" sz="2000" b="1" dirty="0"/>
              <a:t>GET /{code}</a:t>
            </a:r>
            <a:endParaRPr lang="en-US" sz="2000" dirty="0"/>
          </a:p>
          <a:p>
            <a:pPr lvl="1"/>
            <a:r>
              <a:rPr lang="en-US" sz="1800" dirty="0"/>
              <a:t>Redirects to the original URL</a:t>
            </a:r>
          </a:p>
          <a:p>
            <a:pPr lvl="1"/>
            <a:r>
              <a:rPr lang="en-US" sz="1800" dirty="0"/>
              <a:t>Example: /abc123</a:t>
            </a:r>
          </a:p>
          <a:p>
            <a:r>
              <a:rPr lang="en-US" sz="2000" b="1" dirty="0"/>
              <a:t>GET /analytics/{code}</a:t>
            </a:r>
            <a:endParaRPr lang="en-US" sz="2000" dirty="0"/>
          </a:p>
          <a:p>
            <a:pPr lvl="1"/>
            <a:r>
              <a:rPr lang="en-US" sz="1800" dirty="0"/>
              <a:t>Returns analytics data</a:t>
            </a:r>
          </a:p>
        </p:txBody>
      </p:sp>
    </p:spTree>
    <p:extLst>
      <p:ext uri="{BB962C8B-B14F-4D97-AF65-F5344CB8AC3E}">
        <p14:creationId xmlns:p14="http://schemas.microsoft.com/office/powerpoint/2010/main" val="215698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429A-75E0-E8A5-A723-63CC2E76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D188-C609-68A9-B3E7-A2A4EE6EC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The system supports: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	✅ URL shortening</a:t>
            </a:r>
            <a:br>
              <a:rPr lang="en-IN" sz="1800" dirty="0"/>
            </a:br>
            <a:r>
              <a:rPr lang="en-IN" sz="1800" dirty="0"/>
              <a:t>	✅ Redirection service</a:t>
            </a:r>
            <a:br>
              <a:rPr lang="en-IN" sz="1800" dirty="0"/>
            </a:br>
            <a:r>
              <a:rPr lang="en-IN" sz="1800" dirty="0"/>
              <a:t>	✅ Click tracking</a:t>
            </a:r>
            <a:br>
              <a:rPr lang="en-IN" sz="1800" dirty="0"/>
            </a:br>
            <a:r>
              <a:rPr lang="en-IN" sz="1800" dirty="0"/>
              <a:t>	✅ Link expiration</a:t>
            </a:r>
            <a:br>
              <a:rPr lang="en-IN" sz="1800" dirty="0"/>
            </a:br>
            <a:r>
              <a:rPr lang="en-IN" sz="1800" dirty="0"/>
              <a:t>	✅ Analytics API</a:t>
            </a:r>
            <a:br>
              <a:rPr lang="en-IN" sz="1800" dirty="0"/>
            </a:br>
            <a:r>
              <a:rPr lang="en-IN" sz="1800" dirty="0"/>
              <a:t>	✅ Serverless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0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4877-ED06-E975-5547-FFCE033E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88289"/>
            <a:ext cx="11029616" cy="1188720"/>
          </a:xfrm>
        </p:spPr>
        <p:txBody>
          <a:bodyPr/>
          <a:lstStyle/>
          <a:p>
            <a:r>
              <a:rPr lang="en-IN" dirty="0"/>
              <a:t>Demo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9C7160-E05B-2DD1-9016-D6C3C8252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16" y="1883632"/>
            <a:ext cx="6309360" cy="42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9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F189-3C8D-C1E7-26B1-65E88EC6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Serverless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0298-F7B2-0ADB-D407-CFEC91541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Benefits: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• No Server Management</a:t>
            </a:r>
            <a:br>
              <a:rPr lang="en-US" sz="1800" dirty="0"/>
            </a:br>
            <a:r>
              <a:rPr lang="en-US" sz="1800" dirty="0"/>
              <a:t>	• Automatic Scaling</a:t>
            </a:r>
            <a:br>
              <a:rPr lang="en-US" sz="1800" dirty="0"/>
            </a:br>
            <a:r>
              <a:rPr lang="en-US" sz="1800" dirty="0"/>
              <a:t>	• Cost Efficient</a:t>
            </a:r>
            <a:br>
              <a:rPr lang="en-US" sz="1800" dirty="0"/>
            </a:br>
            <a:r>
              <a:rPr lang="en-US" sz="1800" dirty="0"/>
              <a:t>	• High Availability</a:t>
            </a:r>
            <a:br>
              <a:rPr lang="en-US" sz="1800" dirty="0"/>
            </a:br>
            <a:r>
              <a:rPr lang="en-US" sz="1800" dirty="0"/>
              <a:t>	• Easy to deploy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Serverless reduces infrastructure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63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2EFB-DCBC-A87D-96B9-E40FB629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51" y="500988"/>
            <a:ext cx="11029616" cy="1188720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28F4B-A41E-6054-D318-C3CBD194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52" y="1408176"/>
            <a:ext cx="11029615" cy="5129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This system can be improved with the following features:</a:t>
            </a:r>
          </a:p>
          <a:p>
            <a:r>
              <a:rPr lang="en-US" sz="1800" b="1" dirty="0"/>
              <a:t>User Authentication</a:t>
            </a:r>
            <a:endParaRPr lang="en-US" sz="1800" dirty="0"/>
          </a:p>
          <a:p>
            <a:r>
              <a:rPr lang="en-US" sz="1800" b="1" dirty="0"/>
              <a:t>Analytics Dashboard</a:t>
            </a:r>
            <a:endParaRPr lang="en-US" sz="1800" dirty="0"/>
          </a:p>
          <a:p>
            <a:r>
              <a:rPr lang="en-US" sz="1800" b="1" dirty="0"/>
              <a:t>Custom Short URLs</a:t>
            </a:r>
            <a:endParaRPr lang="en-US" sz="1800" dirty="0"/>
          </a:p>
          <a:p>
            <a:r>
              <a:rPr lang="en-US" sz="1800" b="1" dirty="0"/>
              <a:t>Frontend Web Interface</a:t>
            </a:r>
            <a:endParaRPr lang="en-US" sz="1800" dirty="0"/>
          </a:p>
          <a:p>
            <a:r>
              <a:rPr lang="en-US" sz="1800" b="1" dirty="0"/>
              <a:t>Security Enhancements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03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81A0-8534-9A27-E0F3-B41007AC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in IT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C62F-557A-AC85-2872-7AB694E01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84832"/>
            <a:ext cx="11029615" cy="3634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URL shortening systems are widely used in the IT industry.</a:t>
            </a:r>
          </a:p>
          <a:p>
            <a:r>
              <a:rPr lang="en-US" sz="1800" b="1" dirty="0"/>
              <a:t>Social Media Platforms</a:t>
            </a:r>
          </a:p>
          <a:p>
            <a:r>
              <a:rPr lang="en-US" sz="1800" b="1" dirty="0"/>
              <a:t>Marketing Campaigns</a:t>
            </a:r>
          </a:p>
          <a:p>
            <a:r>
              <a:rPr lang="en-US" sz="1800" b="1" dirty="0"/>
              <a:t>Analytics &amp; Data Tracking</a:t>
            </a:r>
          </a:p>
          <a:p>
            <a:r>
              <a:rPr lang="en-US" sz="1800" b="1" dirty="0"/>
              <a:t>Content Sharing Platforms</a:t>
            </a:r>
          </a:p>
          <a:p>
            <a:r>
              <a:rPr lang="en-US" sz="1800" b="1" dirty="0"/>
              <a:t>Mobile Applications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19895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0DC8-22B7-1ECD-D152-A45D636D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3DE6-E4E9-3771-0645-0B0D2FB2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This project demonstrates a </a:t>
            </a:r>
            <a:r>
              <a:rPr lang="en-US" sz="2000" b="1" dirty="0"/>
              <a:t>serverless cloud architecture</a:t>
            </a:r>
            <a:r>
              <a:rPr lang="en-US" sz="2000" dirty="0"/>
              <a:t> using AWS.</a:t>
            </a:r>
          </a:p>
          <a:p>
            <a:r>
              <a:rPr lang="en-US" sz="2000" dirty="0"/>
              <a:t>Achievements:</a:t>
            </a:r>
          </a:p>
          <a:p>
            <a:pPr lvl="1"/>
            <a:r>
              <a:rPr lang="en-US" sz="1800" dirty="0"/>
              <a:t>Built scalable URL shortening service</a:t>
            </a:r>
          </a:p>
          <a:p>
            <a:pPr lvl="1"/>
            <a:r>
              <a:rPr lang="en-US" sz="1800" dirty="0"/>
              <a:t>Implemented analytics and expiration</a:t>
            </a:r>
          </a:p>
          <a:p>
            <a:pPr lvl="1"/>
            <a:r>
              <a:rPr lang="en-US" sz="1800" dirty="0"/>
              <a:t>Used fully managed cloud services</a:t>
            </a:r>
          </a:p>
          <a:p>
            <a:r>
              <a:rPr lang="en-US" sz="2000" dirty="0"/>
              <a:t>Future improvements:</a:t>
            </a:r>
          </a:p>
          <a:p>
            <a:pPr lvl="1"/>
            <a:r>
              <a:rPr lang="en-US" sz="1800" dirty="0"/>
              <a:t>User authentication</a:t>
            </a:r>
          </a:p>
          <a:p>
            <a:pPr lvl="1"/>
            <a:r>
              <a:rPr lang="en-US" sz="1800" dirty="0"/>
              <a:t>Frontend dashboard</a:t>
            </a:r>
          </a:p>
          <a:p>
            <a:pPr lvl="1"/>
            <a:r>
              <a:rPr lang="en-US" sz="1800" dirty="0"/>
              <a:t>Advanced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39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03D3D-AF7C-4E40-C185-678ED969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96" y="1611757"/>
            <a:ext cx="11029615" cy="36344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736089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{2754D57D-3628-45E7-A330-B9E57827176A}TF201209c3-d067-44f9-a26f-c8f216c4431347f6cf9d_win32-4021059b889a</Template>
  <TotalTime>767</TotalTime>
  <Words>428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Franklin Gothic Book</vt:lpstr>
      <vt:lpstr>Franklin Gothic Demi</vt:lpstr>
      <vt:lpstr>Wingdings 2</vt:lpstr>
      <vt:lpstr>DividendVTI</vt:lpstr>
      <vt:lpstr>Serverless URL Shortener using AWS</vt:lpstr>
      <vt:lpstr>Problem Statement</vt:lpstr>
      <vt:lpstr>Project Objective</vt:lpstr>
      <vt:lpstr>AWS Services Used</vt:lpstr>
      <vt:lpstr>System Architecture</vt:lpstr>
      <vt:lpstr>DynamoDB Database Design</vt:lpstr>
      <vt:lpstr>Lambda Functions</vt:lpstr>
      <vt:lpstr>API Endpoints</vt:lpstr>
      <vt:lpstr>Features Implemented</vt:lpstr>
      <vt:lpstr>Demo Workflow</vt:lpstr>
      <vt:lpstr>Advantages of Serverless Architecture</vt:lpstr>
      <vt:lpstr>Future Enhancements</vt:lpstr>
      <vt:lpstr>Applications in IT Industry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Patil</dc:creator>
  <cp:lastModifiedBy>Aditya Patil</cp:lastModifiedBy>
  <cp:revision>2</cp:revision>
  <dcterms:created xsi:type="dcterms:W3CDTF">2026-03-09T16:47:11Z</dcterms:created>
  <dcterms:modified xsi:type="dcterms:W3CDTF">2026-03-10T05:34:55Z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